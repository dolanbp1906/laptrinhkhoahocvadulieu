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7223760" y="0"/>
            <a:ext cx="4974336" cy="6858000"/>
          </a:xfrm>
          <a:prstGeom prst="rect">
            <a:avLst/>
          </a:prstGeom>
          <a:solidFill>
            <a:srgbClr val="263E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7223760" y="0"/>
            <a:ext cx="45720" cy="685800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00969E"/>
                </a:solidFill>
                <a:latin typeface="Segoe UI"/>
              </a:defRPr>
            </a:pPr>
            <a:r>
              <a:t>CHUYÊN ĐỀ CUỐI KỲ · SỐ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6126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3300" b="1">
                <a:solidFill>
                  <a:srgbClr val="FFFFFF"/>
                </a:solidFill>
                <a:latin typeface="Segoe UI"/>
              </a:defRPr>
            </a:pPr>
            <a:r>
              <a:t>Phân tích bán hàng,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3300" b="1">
                <a:solidFill>
                  <a:srgbClr val="FFFFFF"/>
                </a:solidFill>
                <a:latin typeface="Segoe UI"/>
              </a:defRPr>
            </a:pPr>
            <a:r>
              <a:t>quản lý tồn kho và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defRPr sz="3300" b="1">
                <a:solidFill>
                  <a:srgbClr val="FFFFFF"/>
                </a:solidFill>
                <a:latin typeface="Segoe UI"/>
              </a:defRPr>
            </a:pPr>
            <a:r>
              <a:t>phân nhóm khách hàng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15968"/>
            <a:ext cx="1371600" cy="4114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4526280"/>
            <a:ext cx="6035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B2C3D2"/>
                </a:solidFill>
                <a:latin typeface="Segoe UI"/>
              </a:defRPr>
            </a:pPr>
            <a:r>
              <a:t>Lập trình cho Khoa học dữ liệu · Nhà sách và văn phòng phẩm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B2C3D2"/>
                </a:solidFill>
                <a:latin typeface="Segoe UI"/>
              </a:defRPr>
            </a:pPr>
            <a:r>
              <a:t>Học viên: ……………………………    MSSV: ……………………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B2C3D2"/>
                </a:solidFill>
                <a:latin typeface="Segoe UI"/>
              </a:defRPr>
            </a:pPr>
            <a:r>
              <a:t>Giảng viên: ……………………………             Tháng 08/2026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463040"/>
            <a:ext cx="3931920" cy="841248"/>
          </a:xfrm>
          <a:prstGeom prst="roundRect">
            <a:avLst>
              <a:gd name="adj" fmla="val 10000"/>
            </a:avLst>
          </a:prstGeom>
          <a:solidFill>
            <a:srgbClr val="0F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7772400" y="1463040"/>
            <a:ext cx="54864" cy="84124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01000" y="1563624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90</a:t>
            </a:r>
          </a:p>
          <a:p>
            <a:pPr algn="l">
              <a:spcAft>
                <a:spcPts val="0"/>
              </a:spcAft>
              <a:defRPr sz="1050" b="0">
                <a:solidFill>
                  <a:srgbClr val="96ACC0"/>
                </a:solidFill>
                <a:latin typeface="Segoe UI"/>
              </a:defRPr>
            </a:pPr>
            <a:r>
              <a:t>sản phẩm sau hợp nhất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2487168"/>
            <a:ext cx="3931920" cy="841248"/>
          </a:xfrm>
          <a:prstGeom prst="roundRect">
            <a:avLst>
              <a:gd name="adj" fmla="val 10000"/>
            </a:avLst>
          </a:prstGeom>
          <a:solidFill>
            <a:srgbClr val="0F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7772400" y="2487168"/>
            <a:ext cx="54864" cy="84124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01000" y="2587752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1.200</a:t>
            </a:r>
          </a:p>
          <a:p>
            <a:pPr algn="l">
              <a:spcAft>
                <a:spcPts val="0"/>
              </a:spcAft>
              <a:defRPr sz="1050" b="0">
                <a:solidFill>
                  <a:srgbClr val="96ACC0"/>
                </a:solidFill>
                <a:latin typeface="Segoe UI"/>
              </a:defRPr>
            </a:pPr>
            <a:r>
              <a:t>đơn hàng · 3.274 dòng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3511296"/>
            <a:ext cx="3931920" cy="841248"/>
          </a:xfrm>
          <a:prstGeom prst="roundRect">
            <a:avLst>
              <a:gd name="adj" fmla="val 10000"/>
            </a:avLst>
          </a:prstGeom>
          <a:solidFill>
            <a:srgbClr val="0F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7772400" y="3511296"/>
            <a:ext cx="54864" cy="84124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01000" y="3611880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R² 0,79</a:t>
            </a:r>
          </a:p>
          <a:p>
            <a:pPr algn="l">
              <a:spcAft>
                <a:spcPts val="0"/>
              </a:spcAft>
              <a:defRPr sz="1050" b="0">
                <a:solidFill>
                  <a:srgbClr val="96ACC0"/>
                </a:solidFill>
                <a:latin typeface="Segoe UI"/>
              </a:defRPr>
            </a:pPr>
            <a:r>
              <a:t>dự đoán giá trị đơn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4535424"/>
            <a:ext cx="3931920" cy="841248"/>
          </a:xfrm>
          <a:prstGeom prst="roundRect">
            <a:avLst>
              <a:gd name="adj" fmla="val 10000"/>
            </a:avLst>
          </a:prstGeom>
          <a:solidFill>
            <a:srgbClr val="0F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7772400" y="4535424"/>
            <a:ext cx="54864" cy="84124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01000" y="4636008"/>
            <a:ext cx="3657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>
                <a:solidFill>
                  <a:srgbClr val="FFFFFF"/>
                </a:solidFill>
                <a:latin typeface="Segoe UI"/>
              </a:defRPr>
            </a:pPr>
            <a:r>
              <a:t>F1 0,98</a:t>
            </a:r>
          </a:p>
          <a:p>
            <a:pPr algn="l">
              <a:spcAft>
                <a:spcPts val="0"/>
              </a:spcAft>
              <a:defRPr sz="1050" b="0">
                <a:solidFill>
                  <a:srgbClr val="96ACC0"/>
                </a:solidFill>
                <a:latin typeface="Segoe UI"/>
              </a:defRPr>
            </a:pPr>
            <a:r>
              <a:t>cảnh báo tồn kho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06E76"/>
                </a:solidFill>
                <a:latin typeface="Segoe UI"/>
              </a:defRPr>
            </a:pPr>
            <a:r>
              <a:t>NỘI DUNG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0F2033"/>
                </a:solidFill>
                <a:latin typeface="Segoe UI"/>
              </a:defRPr>
            </a:pPr>
            <a:r>
              <a:t>Trình tự trình bày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50" b="0">
                <a:solidFill>
                  <a:srgbClr val="687A8E"/>
                </a:solidFill>
                <a:latin typeface="Segoe UI"/>
              </a:defRPr>
            </a:pPr>
            <a:r>
              <a:t>Chuyên đề 6 — Phân tích bán hàng, tồn kho và phân nhóm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459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687A8E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59536" y="179222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9536" y="190195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91056" y="19019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0F2033"/>
                </a:solidFill>
                <a:latin typeface="Segoe UI"/>
              </a:defRPr>
            </a:pPr>
            <a:r>
              <a:t>Bài toán và câu hỏi nghiên cứu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57276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391655" y="179222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91655" y="190195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23175" y="190195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0F2033"/>
                </a:solidFill>
                <a:latin typeface="Segoe UI"/>
              </a:defRPr>
            </a:pPr>
            <a:r>
              <a:t>Dữ liệu, nguồn và phạm vi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0720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59536" y="302666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9536" y="313639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91056" y="31363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0F2033"/>
                </a:solidFill>
                <a:latin typeface="Segoe UI"/>
              </a:defRPr>
            </a:pPr>
            <a:r>
              <a:t>Kiến trúc dữ liệu &amp; OOP kho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280720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391655" y="302666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91655" y="313639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23175" y="313639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0F2033"/>
                </a:solidFill>
                <a:latin typeface="Segoe UI"/>
              </a:defRPr>
            </a:pPr>
            <a:r>
              <a:t>EDA bán hàng và tồn kho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404164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59536" y="426110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9536" y="437083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91056" y="43708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0F2033"/>
                </a:solidFill>
                <a:latin typeface="Segoe UI"/>
              </a:defRPr>
            </a:pPr>
            <a:r>
              <a:t>Học máy: giá trị đơn &amp; cảnh báo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041648"/>
            <a:ext cx="525780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391655" y="4261104"/>
            <a:ext cx="566928" cy="566928"/>
          </a:xfrm>
          <a:prstGeom prst="roundRect">
            <a:avLst>
              <a:gd name="adj" fmla="val 15000"/>
            </a:avLst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391655" y="4370832"/>
            <a:ext cx="566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>
                <a:solidFill>
                  <a:srgbClr val="FFFFFF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23175" y="4370832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0F2033"/>
                </a:solidFill>
                <a:latin typeface="Segoe UI"/>
              </a:defRPr>
            </a:pPr>
            <a:r>
              <a:t>RFM, K-Means và chiến lược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06E76"/>
                </a:solidFill>
                <a:latin typeface="Segoe UI"/>
              </a:defRPr>
            </a:pPr>
            <a:r>
              <a:t>BỐI CẢNH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0F2033"/>
                </a:solidFill>
                <a:latin typeface="Segoe UI"/>
              </a:defRPr>
            </a:pPr>
            <a:r>
              <a:t>Bài toán và mục tiêu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50" b="0">
                <a:solidFill>
                  <a:srgbClr val="687A8E"/>
                </a:solidFill>
                <a:latin typeface="Segoe UI"/>
              </a:defRPr>
            </a:pPr>
            <a:r>
              <a:t>Chuyên đề 6 — Phân tích bán hàng, tồn kho và phân nhóm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459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687A8E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55778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56362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MỤC TIÊU HỆ THỐNG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209397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88720" y="1993392"/>
            <a:ext cx="4773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50" b="0">
                <a:solidFill>
                  <a:srgbClr val="263E58"/>
                </a:solidFill>
                <a:latin typeface="Segoe UI"/>
              </a:defRPr>
            </a:pPr>
            <a:r>
              <a:t>Nhập / xuất / điều chỉnh kho có nhật ký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587752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88720" y="2487168"/>
            <a:ext cx="4773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50" b="0">
                <a:solidFill>
                  <a:srgbClr val="263E58"/>
                </a:solidFill>
                <a:latin typeface="Segoe UI"/>
              </a:defRPr>
            </a:pPr>
            <a:r>
              <a:t>Chặn tồn kho âm, rollback khi thiếu hàng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81528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" y="2980944"/>
            <a:ext cx="4773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50" b="0">
                <a:solidFill>
                  <a:srgbClr val="263E58"/>
                </a:solidFill>
                <a:latin typeface="Segoe UI"/>
              </a:defRPr>
            </a:pPr>
            <a:r>
              <a:t>Phân tích doanh thu và cặp sản phẩm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3575304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88720" y="3474720"/>
            <a:ext cx="4773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50" b="0">
                <a:solidFill>
                  <a:srgbClr val="263E58"/>
                </a:solidFill>
                <a:latin typeface="Segoe UI"/>
              </a:defRPr>
            </a:pPr>
            <a:r>
              <a:t>Dự đoán giá trị đơn hàng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69080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" y="3968496"/>
            <a:ext cx="4773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50" b="0">
                <a:solidFill>
                  <a:srgbClr val="263E58"/>
                </a:solidFill>
                <a:latin typeface="Segoe UI"/>
              </a:defRPr>
            </a:pPr>
            <a:r>
              <a:t>Cảnh báo sản phẩm dưới reorder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" y="456285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88720" y="4462272"/>
            <a:ext cx="4773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50" b="0">
                <a:solidFill>
                  <a:srgbClr val="263E58"/>
                </a:solidFill>
                <a:latin typeface="Segoe UI"/>
              </a:defRPr>
            </a:pPr>
            <a:r>
              <a:t>Phân nhóm khách hàng RFM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1417320"/>
            <a:ext cx="502920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48272" y="156362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6 CÂU HỎI NGHIÊN CỨU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1993392"/>
            <a:ext cx="310896" cy="310896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66560" y="202082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2011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Danh mục / kênh nào doanh thu lớn nhất?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2596896"/>
            <a:ext cx="310896" cy="310896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766560" y="2624328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2615184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Sản phẩm bán chạy, chậm, mua cùng nhau?</a:t>
            </a:r>
          </a:p>
        </p:txBody>
      </p:sp>
      <p:sp>
        <p:nvSpPr>
          <p:cNvPr id="30" name="Oval 29"/>
          <p:cNvSpPr/>
          <p:nvPr/>
        </p:nvSpPr>
        <p:spPr>
          <a:xfrm>
            <a:off x="6766560" y="3200400"/>
            <a:ext cx="310896" cy="310896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766560" y="3227832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78040" y="321868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Thời điểm nào doanh thu cao nhất?</a:t>
            </a:r>
          </a:p>
        </p:txBody>
      </p:sp>
      <p:sp>
        <p:nvSpPr>
          <p:cNvPr id="33" name="Oval 32"/>
          <p:cNvSpPr/>
          <p:nvPr/>
        </p:nvSpPr>
        <p:spPr>
          <a:xfrm>
            <a:off x="6766560" y="3803904"/>
            <a:ext cx="310896" cy="310896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766560" y="3831336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822191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Khách hàng chia thành nhóm RFM nào?</a:t>
            </a:r>
          </a:p>
        </p:txBody>
      </p:sp>
      <p:sp>
        <p:nvSpPr>
          <p:cNvPr id="36" name="Oval 35"/>
          <p:cNvSpPr/>
          <p:nvPr/>
        </p:nvSpPr>
        <p:spPr>
          <a:xfrm>
            <a:off x="6766560" y="4407408"/>
            <a:ext cx="310896" cy="310896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766560" y="4434840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4425696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Dự đoán giá trị đơn sai số bao nhiêu?</a:t>
            </a:r>
          </a:p>
        </p:txBody>
      </p:sp>
      <p:sp>
        <p:nvSpPr>
          <p:cNvPr id="39" name="Oval 38"/>
          <p:cNvSpPr/>
          <p:nvPr/>
        </p:nvSpPr>
        <p:spPr>
          <a:xfrm>
            <a:off x="6766560" y="5010912"/>
            <a:ext cx="310896" cy="310896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766560" y="5038344"/>
            <a:ext cx="310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7804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Sản phẩm nào nguy cơ dưới cảnh báo?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06E76"/>
                </a:solidFill>
                <a:latin typeface="Segoe UI"/>
              </a:defRPr>
            </a:pPr>
            <a:r>
              <a:t>DỮ LIỆU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0F2033"/>
                </a:solidFill>
                <a:latin typeface="Segoe UI"/>
              </a:defRPr>
            </a:pPr>
            <a:r>
              <a:t>Nguồn dữ liệu và quy mô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50" b="0">
                <a:solidFill>
                  <a:srgbClr val="687A8E"/>
                </a:solidFill>
                <a:latin typeface="Segoe UI"/>
              </a:defRPr>
            </a:pPr>
            <a:r>
              <a:t>Chuyên đề 6 — Phân tích bán hàng, tồn kho và phân nhóm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459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687A8E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201405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64008" cy="105156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96112" y="1499616"/>
            <a:ext cx="1630009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90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SẢN PHẨM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73593" y="1371600"/>
            <a:ext cx="201405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873593" y="1371600"/>
            <a:ext cx="64008" cy="105156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111337" y="1499616"/>
            <a:ext cx="1630009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220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KHÁCH HÀNG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8818" y="1371600"/>
            <a:ext cx="201405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088818" y="1371600"/>
            <a:ext cx="64008" cy="105156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326562" y="1499616"/>
            <a:ext cx="1630009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1.200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ĐƠN HÀNG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04044" y="1371600"/>
            <a:ext cx="201405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7304044" y="1371600"/>
            <a:ext cx="64008" cy="105156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41788" y="1499616"/>
            <a:ext cx="1630009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3.274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DÒNG CHI TIẾT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19269" y="1371600"/>
            <a:ext cx="2014057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9519269" y="1371600"/>
            <a:ext cx="64008" cy="105156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757013" y="1499616"/>
            <a:ext cx="1630009" cy="83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3.396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GIAO DỊCH KHO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58368" y="2788920"/>
          <a:ext cx="557783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4249"/>
                <a:gridCol w="1561795"/>
                <a:gridCol w="1561795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Nguồn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Số SP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Loại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Giảng viên cung cấp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60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lecturer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DummyJSON Products API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public_api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Books to Scrape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15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public_website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HTML mẫu (không tính SP mới)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60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practice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492240" y="2788920"/>
            <a:ext cx="5029200" cy="3063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748272" y="293522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MINH BẠCH DỮ LIỆU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46557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022592" y="3364992"/>
            <a:ext cx="43159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Giá USD × 25.000, GBP × 33.000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3959352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022592" y="3858768"/>
            <a:ext cx="43159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Cột simulated_fields ghi trường mô phỏng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4453128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022592" y="4352544"/>
            <a:ext cx="43159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Giao dịch synthetic, seed = 42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946904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022592" y="4846320"/>
            <a:ext cx="43159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Không có dữ liệu khách hàng thật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66560" y="5440680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022592" y="5340096"/>
            <a:ext cx="43159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Không vượt CAPTCHA hoặc chống bot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06E76"/>
                </a:solidFill>
                <a:latin typeface="Segoe UI"/>
              </a:defRPr>
            </a:pPr>
            <a:r>
              <a:t>KIẾN TRÚC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0F2033"/>
                </a:solidFill>
                <a:latin typeface="Segoe UI"/>
              </a:defRPr>
            </a:pPr>
            <a:r>
              <a:t>Pipeline dữ liệu và OOP quản lý kho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50" b="0">
                <a:solidFill>
                  <a:srgbClr val="687A8E"/>
                </a:solidFill>
                <a:latin typeface="Segoe UI"/>
              </a:defRPr>
            </a:pPr>
            <a:r>
              <a:t>Chuyên đề 6 — Phân tích bán hàng, tồn kho và phân nhóm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459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687A8E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16276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536192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6E76"/>
                </a:solidFill>
                <a:latin typeface="Segoe UI"/>
              </a:defRPr>
            </a:pPr>
            <a:r>
              <a:t>RAW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673352"/>
            <a:ext cx="128016" cy="4572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2514600" y="1417320"/>
            <a:ext cx="16276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514600" y="1536192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6E76"/>
                </a:solidFill>
                <a:latin typeface="Segoe UI"/>
              </a:defRPr>
            </a:pPr>
            <a:r>
              <a:t>CLEAN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87952" y="1673352"/>
            <a:ext cx="128016" cy="4572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4370831" y="1417320"/>
            <a:ext cx="16276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70831" y="1536192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6E76"/>
                </a:solidFill>
                <a:latin typeface="Segoe UI"/>
              </a:defRPr>
            </a:pPr>
            <a:r>
              <a:t>FACT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44183" y="1673352"/>
            <a:ext cx="128016" cy="4572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6227064" y="1417320"/>
            <a:ext cx="16276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27064" y="1536192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6E76"/>
                </a:solidFill>
                <a:latin typeface="Segoe UI"/>
              </a:defRPr>
            </a:pPr>
            <a:r>
              <a:t>EDA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0416" y="1673352"/>
            <a:ext cx="128016" cy="4572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83296" y="1417320"/>
            <a:ext cx="16276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83296" y="1536192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6E76"/>
                </a:solidFill>
                <a:latin typeface="Segoe UI"/>
              </a:defRPr>
            </a:pPr>
            <a:r>
              <a:t>ML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56648" y="1673352"/>
            <a:ext cx="128016" cy="45720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9939528" y="1417320"/>
            <a:ext cx="1627632" cy="566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939528" y="1536192"/>
            <a:ext cx="162763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1">
                <a:solidFill>
                  <a:srgbClr val="006E76"/>
                </a:solidFill>
                <a:latin typeface="Segoe UI"/>
              </a:defRPr>
            </a:pPr>
            <a:r>
              <a:t>RFM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2240280"/>
            <a:ext cx="557784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14400" y="238658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7 LỚP THEO ĐỀ CƯƠNG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291693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188720" y="2816352"/>
            <a:ext cx="4773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263E58"/>
                </a:solidFill>
                <a:latin typeface="Segoe UI"/>
              </a:defRPr>
            </a:pPr>
            <a:r>
              <a:t>Product · Customer · Order · OrderItem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2688" y="3410712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88720" y="3310128"/>
            <a:ext cx="4773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263E58"/>
                </a:solidFill>
                <a:latin typeface="Segoe UI"/>
              </a:defRPr>
            </a:pPr>
            <a:r>
              <a:t>InventoryTransaction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2688" y="3904487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188720" y="3803904"/>
            <a:ext cx="4773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263E58"/>
                </a:solidFill>
                <a:latin typeface="Segoe UI"/>
              </a:defRPr>
            </a:pPr>
            <a:r>
              <a:t>InventoryManager — nhập/xuất/điều chỉnh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32688" y="4398264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188720" y="4297680"/>
            <a:ext cx="47731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500" b="0">
                <a:solidFill>
                  <a:srgbClr val="263E58"/>
                </a:solidFill>
                <a:latin typeface="Segoe UI"/>
              </a:defRPr>
            </a:pPr>
            <a:r>
              <a:t>SalesManager — tạo đơn, trừ kho, rollback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92240" y="2240280"/>
            <a:ext cx="5029200" cy="3611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748272" y="2386584"/>
            <a:ext cx="4572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KIỂM SOÁT NGHIỆP VỤ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66560" y="291693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022592" y="2816352"/>
            <a:ext cx="43159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63E58"/>
                </a:solidFill>
                <a:latin typeface="Segoe UI"/>
              </a:defRPr>
            </a:pPr>
            <a:r>
              <a:t>Từ chối giao dịch làm âm kho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66560" y="3410712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022592" y="3310128"/>
            <a:ext cx="43159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63E58"/>
                </a:solidFill>
                <a:latin typeface="Segoe UI"/>
              </a:defRPr>
            </a:pPr>
            <a:r>
              <a:t>Ghi inventory_log.csv + error_log.txt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904487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022592" y="3803904"/>
            <a:ext cx="43159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63E58"/>
                </a:solidFill>
                <a:latin typeface="Segoe UI"/>
              </a:defRPr>
            </a:pPr>
            <a:r>
              <a:t>Lưu trạng thái trước / sau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0" y="4398264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022592" y="4297680"/>
            <a:ext cx="43159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63E58"/>
                </a:solidFill>
                <a:latin typeface="Segoe UI"/>
              </a:defRPr>
            </a:pPr>
            <a:r>
              <a:t>Merge validate many-to-one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66560" y="4892040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022592" y="4791456"/>
            <a:ext cx="431596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00" b="0">
                <a:solidFill>
                  <a:srgbClr val="263E58"/>
                </a:solidFill>
                <a:latin typeface="Segoe UI"/>
              </a:defRPr>
            </a:pPr>
            <a:r>
              <a:t>3.274 dòng fact, không phình dòng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06E76"/>
                </a:solidFill>
                <a:latin typeface="Segoe UI"/>
              </a:defRPr>
            </a:pPr>
            <a:r>
              <a:t>EDA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0F2033"/>
                </a:solidFill>
                <a:latin typeface="Segoe UI"/>
              </a:defRPr>
            </a:pPr>
            <a:r>
              <a:t>Doanh thu theo thời gian và kênh bán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50" b="0">
                <a:solidFill>
                  <a:srgbClr val="687A8E"/>
                </a:solidFill>
                <a:latin typeface="Segoe UI"/>
              </a:defRPr>
            </a:pPr>
            <a:r>
              <a:t>Chuyên đề 6 — Phân tích bán hàng, tồn kho và phân nhóm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459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687A8E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48640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1_revenue_by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85187"/>
            <a:ext cx="5193792" cy="22932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1371600"/>
            <a:ext cx="512064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04_revenue_by_chan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4" y="1603195"/>
            <a:ext cx="4828031" cy="3057248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074920"/>
            <a:ext cx="3490874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5074920"/>
            <a:ext cx="64008" cy="74980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5202936"/>
            <a:ext cx="310682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2025-04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THÁNG ĐỈNH DOANH THU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0410" y="5074920"/>
            <a:ext cx="3490874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50410" y="5074920"/>
            <a:ext cx="64008" cy="74980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88154" y="5202936"/>
            <a:ext cx="310682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~42%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TỶ TRỌNG KÊNH OFFLINE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2452" y="5074920"/>
            <a:ext cx="3490874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42452" y="5074920"/>
            <a:ext cx="64008" cy="74980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80196" y="5202936"/>
            <a:ext cx="310682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TP. HCM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THÀNH PHỐ DẪN ĐẦU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06E76"/>
                </a:solidFill>
                <a:latin typeface="Segoe UI"/>
              </a:defRPr>
            </a:pPr>
            <a:r>
              <a:t>EDA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0F2033"/>
                </a:solidFill>
                <a:latin typeface="Segoe UI"/>
              </a:defRPr>
            </a:pPr>
            <a:r>
              <a:t>Sản phẩm, cặp mua cùng và tồn kho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50" b="0">
                <a:solidFill>
                  <a:srgbClr val="687A8E"/>
                </a:solidFill>
                <a:latin typeface="Segoe UI"/>
              </a:defRPr>
            </a:pPr>
            <a:r>
              <a:t>Chuyên đề 6 — Phân tích bán hàng, tồn kho và phân nhóm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459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687A8E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48640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07_stock_vs_re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531544"/>
            <a:ext cx="5193792" cy="320055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00800" y="1371600"/>
            <a:ext cx="5120640" cy="35204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06_pai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823" y="1517904"/>
            <a:ext cx="3862593" cy="3227831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58368" y="5074920"/>
            <a:ext cx="3490874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5074920"/>
            <a:ext cx="64008" cy="74980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96112" y="5202936"/>
            <a:ext cx="310682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77/90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SP DƯỚI HOẶC BẰNG REORDER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0410" y="5074920"/>
            <a:ext cx="3490874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50410" y="5074920"/>
            <a:ext cx="64008" cy="74980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88154" y="5202936"/>
            <a:ext cx="310682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P0064–P0067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CẶP ĐỒNG MUA MẠNH NHẤT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2452" y="5074920"/>
            <a:ext cx="3490874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42452" y="5074920"/>
            <a:ext cx="64008" cy="74980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80196" y="5202936"/>
            <a:ext cx="310682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2300" b="1">
                <a:solidFill>
                  <a:srgbClr val="0F2033"/>
                </a:solidFill>
                <a:latin typeface="Segoe UI"/>
              </a:defRPr>
            </a:pPr>
            <a:r>
              <a:t>Lệch phải</a:t>
            </a:r>
          </a:p>
          <a:p>
            <a:pPr algn="l">
              <a:spcAft>
                <a:spcPts val="100"/>
              </a:spcAft>
              <a:defRPr sz="1050" b="0">
                <a:solidFill>
                  <a:srgbClr val="687A8E"/>
                </a:solidFill>
                <a:latin typeface="Segoe UI"/>
              </a:defRPr>
            </a:pPr>
            <a:r>
              <a:t>PHÂN BỐ GIÁ TRỊ ĐƠN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06E76"/>
                </a:solidFill>
                <a:latin typeface="Segoe UI"/>
              </a:defRPr>
            </a:pPr>
            <a:r>
              <a:t>HỌC MÁY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0F2033"/>
                </a:solidFill>
                <a:latin typeface="Segoe UI"/>
              </a:defRPr>
            </a:pPr>
            <a:r>
              <a:t>Dự đoán giá trị đơn hàng (hồi quy)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50" b="0">
                <a:solidFill>
                  <a:srgbClr val="687A8E"/>
                </a:solidFill>
                <a:latin typeface="Segoe UI"/>
              </a:defRPr>
            </a:pPr>
            <a:r>
              <a:t>Chuyên đề 6 — Phân tích bán hàng, tồn kho và phân nhóm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459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687A8E"/>
                </a:solidFill>
                <a:latin typeface="Segoe UI"/>
              </a:defRPr>
            </a:pPr>
            <a:r>
              <a:t>08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63040"/>
          <a:ext cx="6766559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7286"/>
                <a:gridCol w="1263091"/>
                <a:gridCol w="1263091"/>
                <a:gridCol w="1263091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Mô hình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MAE (triệu)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RMSE (triệu)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R²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DummyRegressor (baseline)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44.0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82.6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-0.014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LinearRegression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33.3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73.4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0.198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1">
                          <a:solidFill>
                            <a:srgbClr val="0F2033"/>
                          </a:solidFill>
                          <a:latin typeface="Segoe UI"/>
                        </a:defRPr>
                      </a:pPr>
                      <a:r>
                        <a:t>DecisionTreeRegressor</a:t>
                      </a:r>
                    </a:p>
                  </a:txBody>
                  <a:tcPr marL="109728">
                    <a:solidFill>
                      <a:srgbClr val="E9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0F2033"/>
                          </a:solidFill>
                          <a:latin typeface="Segoe UI"/>
                        </a:defRPr>
                      </a:pPr>
                      <a:r>
                        <a:t>10.8</a:t>
                      </a:r>
                    </a:p>
                  </a:txBody>
                  <a:tcPr marL="109728">
                    <a:solidFill>
                      <a:srgbClr val="E9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0F2033"/>
                          </a:solidFill>
                          <a:latin typeface="Segoe UI"/>
                        </a:defRPr>
                      </a:pPr>
                      <a:r>
                        <a:t>37.9</a:t>
                      </a:r>
                    </a:p>
                  </a:txBody>
                  <a:tcPr marL="109728">
                    <a:solidFill>
                      <a:srgbClr val="E9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0F2033"/>
                          </a:solidFill>
                          <a:latin typeface="Segoe UI"/>
                        </a:defRPr>
                      </a:pPr>
                      <a:r>
                        <a:t>0.787</a:t>
                      </a:r>
                    </a:p>
                  </a:txBody>
                  <a:tcPr marL="109728">
                    <a:solidFill>
                      <a:srgbClr val="E9F6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680960" y="1463040"/>
            <a:ext cx="384048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936992" y="1609344"/>
            <a:ext cx="3383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MÔ HÌNH TỐT NHẤT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96596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0F2033"/>
                </a:solidFill>
                <a:latin typeface="Segoe UI"/>
              </a:defRPr>
            </a:pPr>
            <a:r>
              <a:t>Decision Tree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687A8E"/>
                </a:solidFill>
                <a:latin typeface="Segoe UI"/>
              </a:defRPr>
            </a:pPr>
            <a:r>
              <a:t>MAE ≈ 10,8 triệu · R² ≈ 0,79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03320"/>
            <a:ext cx="10881360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3849624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THIẾT LẬP VÀ PHÂN TÍCH SAI SỐ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437997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" y="4279392"/>
            <a:ext cx="99852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50" b="0">
                <a:solidFill>
                  <a:srgbClr val="263E58"/>
                </a:solidFill>
                <a:latin typeface="Segoe UI"/>
              </a:defRPr>
            </a:pPr>
            <a:r>
              <a:t>Chia train/test 900/300 trước khi fit; dùng Pipeline + ColumnTransformer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873752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88720" y="4773168"/>
            <a:ext cx="99852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50" b="0">
                <a:solidFill>
                  <a:srgbClr val="263E58"/>
                </a:solidFill>
                <a:latin typeface="Segoe UI"/>
              </a:defRPr>
            </a:pPr>
            <a:r>
              <a:t>Đặc trưng: số dòng, số lượng, giá TB, discount, tháng, thứ, kênh, thành phố, loại KH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5367528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" y="5266944"/>
            <a:ext cx="99852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50" b="0">
                <a:solidFill>
                  <a:srgbClr val="263E58"/>
                </a:solidFill>
                <a:latin typeface="Segoe UI"/>
              </a:defRPr>
            </a:pPr>
            <a:r>
              <a:t>10 case sai lớn nhất: đơn có avg_selling_price rất cao hoặc cấu trúc số lượng hiếm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06E76"/>
                </a:solidFill>
                <a:latin typeface="Segoe UI"/>
              </a:defRPr>
            </a:pPr>
            <a:r>
              <a:t>HỌC MÁY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0F2033"/>
                </a:solidFill>
                <a:latin typeface="Segoe UI"/>
              </a:defRPr>
            </a:pPr>
            <a:r>
              <a:t>Phân lớp cảnh báo tồn kho thấp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50" b="0">
                <a:solidFill>
                  <a:srgbClr val="687A8E"/>
                </a:solidFill>
                <a:latin typeface="Segoe UI"/>
              </a:defRPr>
            </a:pPr>
            <a:r>
              <a:t>Chuyên đề 6 — Phân tích bán hàng, tồn kho và phân nhóm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459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687A8E"/>
                </a:solidFill>
                <a:latin typeface="Segoe UI"/>
              </a:defRPr>
            </a:pPr>
            <a: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63040"/>
          <a:ext cx="7589516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9388"/>
                <a:gridCol w="1062532"/>
                <a:gridCol w="1062532"/>
                <a:gridCol w="1062532"/>
                <a:gridCol w="1062532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Mô hình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Accuracy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Precision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Recall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F1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DummyClassifier (baseline)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0.852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0.852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1.000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0.920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LogisticRegression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0.926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1.000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0.913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0.955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1">
                          <a:solidFill>
                            <a:srgbClr val="0F2033"/>
                          </a:solidFill>
                          <a:latin typeface="Segoe UI"/>
                        </a:defRPr>
                      </a:pPr>
                      <a:r>
                        <a:t>DecisionTreeClassifier</a:t>
                      </a:r>
                    </a:p>
                  </a:txBody>
                  <a:tcPr marL="109728">
                    <a:solidFill>
                      <a:srgbClr val="E9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0F2033"/>
                          </a:solidFill>
                          <a:latin typeface="Segoe UI"/>
                        </a:defRPr>
                      </a:pPr>
                      <a:r>
                        <a:t>0.963</a:t>
                      </a:r>
                    </a:p>
                  </a:txBody>
                  <a:tcPr marL="109728">
                    <a:solidFill>
                      <a:srgbClr val="E9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0F2033"/>
                          </a:solidFill>
                          <a:latin typeface="Segoe UI"/>
                        </a:defRPr>
                      </a:pPr>
                      <a:r>
                        <a:t>1.000</a:t>
                      </a:r>
                    </a:p>
                  </a:txBody>
                  <a:tcPr marL="109728">
                    <a:solidFill>
                      <a:srgbClr val="E9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0F2033"/>
                          </a:solidFill>
                          <a:latin typeface="Segoe UI"/>
                        </a:defRPr>
                      </a:pPr>
                      <a:r>
                        <a:t>0.957</a:t>
                      </a:r>
                    </a:p>
                  </a:txBody>
                  <a:tcPr marL="109728">
                    <a:solidFill>
                      <a:srgbClr val="E9F6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0F2033"/>
                          </a:solidFill>
                          <a:latin typeface="Segoe UI"/>
                        </a:defRPr>
                      </a:pPr>
                      <a:r>
                        <a:t>0.978</a:t>
                      </a:r>
                    </a:p>
                  </a:txBody>
                  <a:tcPr marL="109728">
                    <a:solidFill>
                      <a:srgbClr val="E9F6F6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503920" y="1463040"/>
            <a:ext cx="301752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759952" y="16093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KẾT QUẢ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96596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900" b="1">
                <a:solidFill>
                  <a:srgbClr val="0F2033"/>
                </a:solidFill>
                <a:latin typeface="Segoe UI"/>
              </a:defRPr>
            </a:pPr>
            <a:r>
              <a:t>F1 ≈ 0,98</a:t>
            </a:r>
          </a:p>
          <a:p>
            <a:pPr algn="l">
              <a:spcAft>
                <a:spcPts val="300"/>
              </a:spcAft>
              <a:defRPr sz="1250" b="0">
                <a:solidFill>
                  <a:srgbClr val="687A8E"/>
                </a:solidFill>
                <a:latin typeface="Segoe UI"/>
              </a:defRPr>
            </a:pPr>
            <a:r>
              <a:t>1 dự đoán sai trên test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703320"/>
            <a:ext cx="10881360" cy="2148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14400" y="3849624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CHỐNG RÒ RỈ VÀ LƯU Ý ĐÁNH GIÁ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437997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" y="4279392"/>
            <a:ext cx="99852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50" b="0">
                <a:solidFill>
                  <a:srgbClr val="263E58"/>
                </a:solidFill>
                <a:latin typeface="Segoe UI"/>
              </a:defRPr>
            </a:pPr>
            <a:r>
              <a:t>Nhãn: current_quantity ≤ reorder_level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" y="4873752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88720" y="4773168"/>
            <a:ext cx="99852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50" b="0">
                <a:solidFill>
                  <a:srgbClr val="263E58"/>
                </a:solidFill>
                <a:latin typeface="Segoe UI"/>
              </a:defRPr>
            </a:pPr>
            <a:r>
              <a:t>Chỉ dùng đặc trưng đầu kỳ + bán/nhập nửa đầu năm 2025 để tránh rò rỉ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5367528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" y="5266944"/>
            <a:ext cx="99852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450" b="0">
                <a:solidFill>
                  <a:srgbClr val="263E58"/>
                </a:solidFill>
                <a:latin typeface="Segoe UI"/>
              </a:defRPr>
            </a:pPr>
            <a:r>
              <a:t>Lớp dương ~85% → ưu tiên Precision / Recall / F1 thay vì Accuracy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06E76"/>
                </a:solidFill>
                <a:latin typeface="Segoe UI"/>
              </a:defRPr>
            </a:pPr>
            <a:r>
              <a:t>PHÂN CỤM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0F2033"/>
                </a:solidFill>
                <a:latin typeface="Segoe UI"/>
              </a:defRPr>
            </a:pPr>
            <a:r>
              <a:t>RFM và K-Means phân nhóm khách hàng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50" b="0">
                <a:solidFill>
                  <a:srgbClr val="687A8E"/>
                </a:solidFill>
                <a:latin typeface="Segoe UI"/>
              </a:defRPr>
            </a:pPr>
            <a:r>
              <a:t>Chuyên đề 6 — Phân tích bán hàng, tồn kho và phân nhóm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459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687A8E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394960" cy="32461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11_rfm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580" y="1517904"/>
            <a:ext cx="4788534" cy="2953512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09360" y="1463040"/>
          <a:ext cx="521207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3315"/>
                <a:gridCol w="972921"/>
                <a:gridCol w="972921"/>
                <a:gridCol w="972921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Phân khúc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Số KH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Recency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Frequency</a:t>
                      </a:r>
                    </a:p>
                  </a:txBody>
                  <a:tcPr marL="109728">
                    <a:solidFill>
                      <a:srgbClr val="0F203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Champions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78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30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7.7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Loyal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88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41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4.7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Potential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36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161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4.0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At Risk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17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76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spcAft>
                          <a:spcPts val="0"/>
                        </a:spcAft>
                        <a:defRPr sz="1150" b="0">
                          <a:solidFill>
                            <a:srgbClr val="263E58"/>
                          </a:solidFill>
                          <a:latin typeface="Segoe UI"/>
                        </a:defRPr>
                      </a:pPr>
                      <a:r>
                        <a:t>2.7</a:t>
                      </a:r>
                    </a:p>
                  </a:txBody>
                  <a:tcPr marL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6309360" y="3520440"/>
            <a:ext cx="5212080" cy="23317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65392" y="366674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CHIẾN LƯỢC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4123944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839712" y="4023360"/>
            <a:ext cx="440740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263E58"/>
                </a:solidFill>
                <a:latin typeface="Segoe UI"/>
              </a:defRPr>
            </a:pPr>
            <a:r>
              <a:t>Champions — ưu đãi VIP, giữ chân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617720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839712" y="4517136"/>
            <a:ext cx="440740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263E58"/>
                </a:solidFill>
                <a:latin typeface="Segoe UI"/>
              </a:defRPr>
            </a:pPr>
            <a:r>
              <a:t>Loyal — upsell, tích điểm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511149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39712" y="5010912"/>
            <a:ext cx="440740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263E58"/>
                </a:solidFill>
                <a:latin typeface="Segoe UI"/>
              </a:defRPr>
            </a:pPr>
            <a:r>
              <a:t>Potential — coupon kích hoạt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5605272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39712" y="5504688"/>
            <a:ext cx="440740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00" b="0">
                <a:solidFill>
                  <a:srgbClr val="263E58"/>
                </a:solidFill>
                <a:latin typeface="Segoe UI"/>
              </a:defRPr>
            </a:pPr>
            <a:r>
              <a:t>At Risk — win-back có thời hạn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754880"/>
            <a:ext cx="5394960" cy="10972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4400" y="4901184"/>
            <a:ext cx="49377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THIẾT LẬP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" y="5248656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50" b="0">
                <a:solidFill>
                  <a:srgbClr val="263E58"/>
                </a:solidFill>
                <a:latin typeface="Segoe UI"/>
              </a:defRPr>
            </a:pPr>
            <a:r>
              <a:t>reference_date = 2026-01-01 · k = 4 · log1p(Monetary)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150" b="1">
                <a:solidFill>
                  <a:srgbClr val="006E76"/>
                </a:solidFill>
                <a:latin typeface="Segoe UI"/>
              </a:defRPr>
            </a:pPr>
            <a:r>
              <a:t>TỔNG KẾT</a:t>
            </a:r>
          </a:p>
          <a:p>
            <a:pPr algn="l">
              <a:spcAft>
                <a:spcPts val="200"/>
              </a:spcAft>
              <a:defRPr sz="2700" b="1">
                <a:solidFill>
                  <a:srgbClr val="0F2033"/>
                </a:solidFill>
                <a:latin typeface="Segoe UI"/>
              </a:defRPr>
            </a:pPr>
            <a:r>
              <a:t>Kết luận, giới hạn và hướng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291072"/>
            <a:ext cx="10874959" cy="10972"/>
          </a:xfrm>
          <a:prstGeom prst="rect">
            <a:avLst/>
          </a:prstGeom>
          <a:solidFill>
            <a:srgbClr val="D8E0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58368" y="6345936"/>
            <a:ext cx="8229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950" b="0">
                <a:solidFill>
                  <a:srgbClr val="687A8E"/>
                </a:solidFill>
                <a:latin typeface="Segoe UI"/>
              </a:defRPr>
            </a:pPr>
            <a:r>
              <a:t>Chuyên đề 6 — Phân tích bán hàng, tồn kho và phân nhóm khách hàng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18927" y="6345936"/>
            <a:ext cx="914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50" b="1">
                <a:solidFill>
                  <a:srgbClr val="687A8E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1732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1563624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ĐÃ ĐẠT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09397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70432" y="1993392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OOP kho có nhật ký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587752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70432" y="2487168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NumPy · Pandas · Merge/Pivot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081528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70432" y="2980944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10+ biểu đồ có nhận xét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575304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70432" y="3474720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Baseline + 2 mô hình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" y="4069080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70432" y="3968496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RFM + K-Means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56285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70432" y="4462272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Pipeline chạy 1 lệnh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141732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26864" y="1563624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GIỚI HẠN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26864" y="209397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882896" y="1993392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Giao dịch synthetic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26864" y="2587752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882896" y="2487168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FX cố định làm lệch doanh thu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26864" y="3081528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82896" y="2980944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Chỉ 90 SP cho bài tồn kho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26864" y="3575304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82896" y="3474720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Lớp low_stock mất cân bằng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26864" y="4069080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882896" y="3968496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Chưa đánh giá theo thời gian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1417320"/>
            <a:ext cx="3520440" cy="4434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0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57031" y="1563624"/>
            <a:ext cx="3063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006E76"/>
                </a:solidFill>
                <a:latin typeface="Segoe UI"/>
              </a:defRPr>
            </a:pPr>
            <a:r>
              <a:t>HƯỚNG PHÁT TRIỂN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57031" y="2093976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513063" y="1993392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Dữ liệu bán hàng thật ẩn danh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57031" y="2587752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513063" y="2487168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Dự báo nhu cầu theo sản phẩm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57031" y="3081528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513063" y="2980944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Hiệu chỉnh ngưỡng reorder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57031" y="3575304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513063" y="3474720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Theo dõi drift mô hình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57031" y="4069080"/>
            <a:ext cx="100584" cy="10058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513063" y="3968496"/>
            <a:ext cx="2761487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350" b="0">
                <a:solidFill>
                  <a:srgbClr val="263E58"/>
                </a:solidFill>
                <a:latin typeface="Segoe UI"/>
              </a:defRPr>
            </a:pPr>
            <a:r>
              <a:t>Kiểm thử và version dữ liệu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331720"/>
            <a:ext cx="9418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00969E"/>
                </a:solidFill>
                <a:latin typeface="Segoe UI"/>
              </a:defRPr>
            </a:pPr>
            <a:r>
              <a:t>CẢM ƠN THẦY/CÔ</a:t>
            </a:r>
          </a:p>
          <a:p>
            <a:pPr algn="ctr">
              <a:spcAft>
                <a:spcPts val="800"/>
              </a:spcAft>
              <a:defRPr sz="5200" b="1">
                <a:solidFill>
                  <a:srgbClr val="FFFFFF"/>
                </a:solidFill>
                <a:latin typeface="Segoe UI"/>
              </a:defRPr>
            </a:pPr>
            <a: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4960" y="4069080"/>
            <a:ext cx="1371600" cy="41148"/>
          </a:xfrm>
          <a:prstGeom prst="rect">
            <a:avLst/>
          </a:prstGeom>
          <a:solidFill>
            <a:srgbClr val="0096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371600" y="434340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B2C3D2"/>
                </a:solidFill>
                <a:latin typeface="Segoe UI"/>
              </a:defRPr>
            </a:pPr>
            <a:r>
              <a:t>Chạy lại pipeline:  python src/run_all.py</a:t>
            </a:r>
          </a:p>
          <a:p>
            <a:pPr algn="ctr">
              <a:spcAft>
                <a:spcPts val="500"/>
              </a:spcAft>
              <a:defRPr sz="1400" b="0">
                <a:solidFill>
                  <a:srgbClr val="B2C3D2"/>
                </a:solidFill>
                <a:latin typeface="Segoe UI"/>
              </a:defRPr>
            </a:pPr>
            <a:r>
              <a:t>Demo hệ thống:  python -m streamlit run src/app_dashboard.py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